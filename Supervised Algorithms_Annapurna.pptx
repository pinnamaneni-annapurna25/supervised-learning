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Cambria Bold" charset="1" panose="02040803050406030204"/>
      <p:regular r:id="rId22"/>
    </p:embeddedFont>
    <p:embeddedFont>
      <p:font typeface="Calibri (MS)" charset="1" panose="020F0502020204030204"/>
      <p:regular r:id="rId23"/>
    </p:embeddedFont>
    <p:embeddedFont>
      <p:font typeface="Calibri (MS) Italics" charset="1" panose="020F05020202040A0204"/>
      <p:regular r:id="rId25"/>
    </p:embeddedFont>
    <p:embeddedFont>
      <p:font typeface="Aptos Bold" charset="1" panose="020B0004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219456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1F6FD6">
                <a:alpha val="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79040" y="4754880"/>
            <a:ext cx="5852160" cy="5852160"/>
            <a:chOff x="0" y="0"/>
            <a:chExt cx="7802880" cy="7802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02880" cy="7802880"/>
            </a:xfrm>
            <a:custGeom>
              <a:avLst/>
              <a:gdLst/>
              <a:ahLst/>
              <a:cxnLst/>
              <a:rect r="r" b="b" t="t" l="l"/>
              <a:pathLst>
                <a:path h="7802880" w="7802880">
                  <a:moveTo>
                    <a:pt x="0" y="3901440"/>
                  </a:moveTo>
                  <a:cubicBezTo>
                    <a:pt x="0" y="1746758"/>
                    <a:pt x="1746758" y="0"/>
                    <a:pt x="3901440" y="0"/>
                  </a:cubicBezTo>
                  <a:cubicBezTo>
                    <a:pt x="6056123" y="0"/>
                    <a:pt x="7802880" y="1746758"/>
                    <a:pt x="7802880" y="3901440"/>
                  </a:cubicBezTo>
                  <a:cubicBezTo>
                    <a:pt x="7802880" y="6056123"/>
                    <a:pt x="6056122" y="7802880"/>
                    <a:pt x="3901440" y="7802880"/>
                  </a:cubicBezTo>
                  <a:cubicBezTo>
                    <a:pt x="1746758" y="7802880"/>
                    <a:pt x="0" y="6056122"/>
                    <a:pt x="0" y="3901440"/>
                  </a:cubicBezTo>
                  <a:close/>
                </a:path>
              </a:pathLst>
            </a:custGeom>
            <a:solidFill>
              <a:srgbClr val="1F6FD6">
                <a:alpha val="78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704320" y="6583680"/>
            <a:ext cx="4023360" cy="4023360"/>
            <a:chOff x="0" y="0"/>
            <a:chExt cx="5364480" cy="53644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568"/>
                    <a:pt x="0" y="2682240"/>
                  </a:cubicBezTo>
                  <a:close/>
                </a:path>
              </a:pathLst>
            </a:custGeom>
            <a:solidFill>
              <a:srgbClr val="1F6FD6">
                <a:alpha val="392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80160" y="2127885"/>
            <a:ext cx="109728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799">
                <a:solidFill>
                  <a:srgbClr val="8DB8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MACHINE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0160" y="3007995"/>
            <a:ext cx="12801600" cy="275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Supervised Learning Algorithms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0160" y="5977890"/>
            <a:ext cx="12801600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Learning from labeled data: input X  →  known output 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0160" y="7806690"/>
            <a:ext cx="15727680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8DB8F5"/>
                </a:solidFill>
                <a:latin typeface="Calibri (MS)"/>
                <a:ea typeface="Calibri (MS)"/>
                <a:cs typeface="Calibri (MS)"/>
                <a:sym typeface="Calibri (MS)"/>
              </a:rPr>
              <a:t>Linear  •  Logistic  •  KNN  •  Decision Tree  •  Random Forest  •  SVM  •  Evaluation Metrics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39115"/>
            <a:ext cx="164592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0B2A5B"/>
                </a:solidFill>
                <a:latin typeface="Cambria Bold"/>
                <a:ea typeface="Cambria Bold"/>
                <a:cs typeface="Cambria Bold"/>
                <a:sym typeface="Cambria Bold"/>
              </a:rPr>
              <a:t>What is Supervised Learning?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762125"/>
            <a:ext cx="16459200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3A5A8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model learns from labeled examples (inputs with known correct outputs), then predicts outputs for new, unseen data.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291840"/>
            <a:ext cx="3657600" cy="1645920"/>
            <a:chOff x="0" y="0"/>
            <a:chExt cx="487680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76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87680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632960" y="0"/>
                  </a:lnTo>
                  <a:cubicBezTo>
                    <a:pt x="4767580" y="0"/>
                    <a:pt x="4876800" y="109220"/>
                    <a:pt x="4876800" y="243840"/>
                  </a:cubicBezTo>
                  <a:lnTo>
                    <a:pt x="4876800" y="1950720"/>
                  </a:lnTo>
                  <a:cubicBezTo>
                    <a:pt x="4876800" y="2085340"/>
                    <a:pt x="4767580" y="2194560"/>
                    <a:pt x="4632960" y="2194560"/>
                  </a:cubicBezTo>
                  <a:lnTo>
                    <a:pt x="243840" y="2194560"/>
                  </a:lnTo>
                  <a:cubicBezTo>
                    <a:pt x="109220" y="2194560"/>
                    <a:pt x="0" y="2085340"/>
                    <a:pt x="0" y="1950720"/>
                  </a:cubicBezTo>
                  <a:close/>
                </a:path>
              </a:pathLst>
            </a:custGeom>
            <a:solidFill>
              <a:srgbClr val="0B2A5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3291840"/>
            <a:ext cx="3657600" cy="1645920"/>
            <a:chOff x="0" y="0"/>
            <a:chExt cx="487680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76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487680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Labeled data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(X, y)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572000" y="3291840"/>
            <a:ext cx="603504" cy="1645920"/>
            <a:chOff x="0" y="0"/>
            <a:chExt cx="804672" cy="2194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4672" cy="2194560"/>
            </a:xfrm>
            <a:custGeom>
              <a:avLst/>
              <a:gdLst/>
              <a:ahLst/>
              <a:cxnLst/>
              <a:rect r="r" b="b" t="t" l="l"/>
              <a:pathLst>
                <a:path h="2194560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9918" t="0" r="-299918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804672" cy="2280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 b="true">
                  <a:solidFill>
                    <a:srgbClr val="1F6F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175504" y="3291840"/>
            <a:ext cx="3657600" cy="1645920"/>
            <a:chOff x="0" y="0"/>
            <a:chExt cx="4876800" cy="2194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76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87680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632960" y="0"/>
                  </a:lnTo>
                  <a:cubicBezTo>
                    <a:pt x="4767580" y="0"/>
                    <a:pt x="4876800" y="109220"/>
                    <a:pt x="4876800" y="243840"/>
                  </a:cubicBezTo>
                  <a:lnTo>
                    <a:pt x="4876800" y="1950720"/>
                  </a:lnTo>
                  <a:cubicBezTo>
                    <a:pt x="4876800" y="2085340"/>
                    <a:pt x="4767580" y="2194560"/>
                    <a:pt x="4632960" y="2194560"/>
                  </a:cubicBezTo>
                  <a:lnTo>
                    <a:pt x="243840" y="2194560"/>
                  </a:lnTo>
                  <a:cubicBezTo>
                    <a:pt x="109220" y="2194560"/>
                    <a:pt x="0" y="2085340"/>
                    <a:pt x="0" y="1950720"/>
                  </a:cubicBezTo>
                  <a:close/>
                </a:path>
              </a:pathLst>
            </a:custGeom>
            <a:solidFill>
              <a:srgbClr val="0B2A5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175504" y="3291840"/>
            <a:ext cx="3657600" cy="1645920"/>
            <a:chOff x="0" y="0"/>
            <a:chExt cx="4876800" cy="219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76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487680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Learning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833104" y="3291840"/>
            <a:ext cx="603504" cy="1645920"/>
            <a:chOff x="0" y="0"/>
            <a:chExt cx="804672" cy="2194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4672" cy="2194560"/>
            </a:xfrm>
            <a:custGeom>
              <a:avLst/>
              <a:gdLst/>
              <a:ahLst/>
              <a:cxnLst/>
              <a:rect r="r" b="b" t="t" l="l"/>
              <a:pathLst>
                <a:path h="2194560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9918" t="0" r="-299918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804672" cy="2280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 b="true">
                  <a:solidFill>
                    <a:srgbClr val="1F6F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36608" y="3291840"/>
            <a:ext cx="3657600" cy="1645920"/>
            <a:chOff x="0" y="0"/>
            <a:chExt cx="4876800" cy="21945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76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87680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632960" y="0"/>
                  </a:lnTo>
                  <a:cubicBezTo>
                    <a:pt x="4767580" y="0"/>
                    <a:pt x="4876800" y="109220"/>
                    <a:pt x="4876800" y="243840"/>
                  </a:cubicBezTo>
                  <a:lnTo>
                    <a:pt x="4876800" y="1950720"/>
                  </a:lnTo>
                  <a:cubicBezTo>
                    <a:pt x="4876800" y="2085340"/>
                    <a:pt x="4767580" y="2194560"/>
                    <a:pt x="4632960" y="2194560"/>
                  </a:cubicBezTo>
                  <a:lnTo>
                    <a:pt x="243840" y="2194560"/>
                  </a:lnTo>
                  <a:cubicBezTo>
                    <a:pt x="109220" y="2194560"/>
                    <a:pt x="0" y="2085340"/>
                    <a:pt x="0" y="1950720"/>
                  </a:cubicBezTo>
                  <a:close/>
                </a:path>
              </a:pathLst>
            </a:custGeom>
            <a:solidFill>
              <a:srgbClr val="0B2A5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436608" y="3291840"/>
            <a:ext cx="3657600" cy="1645920"/>
            <a:chOff x="0" y="0"/>
            <a:chExt cx="4876800" cy="21945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76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487680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Trained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094208" y="3291840"/>
            <a:ext cx="603504" cy="1645920"/>
            <a:chOff x="0" y="0"/>
            <a:chExt cx="804672" cy="2194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04672" cy="2194560"/>
            </a:xfrm>
            <a:custGeom>
              <a:avLst/>
              <a:gdLst/>
              <a:ahLst/>
              <a:cxnLst/>
              <a:rect r="r" b="b" t="t" l="l"/>
              <a:pathLst>
                <a:path h="2194560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9918" t="0" r="-299918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804672" cy="2280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 b="true">
                  <a:solidFill>
                    <a:srgbClr val="1F6F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697712" y="3291840"/>
            <a:ext cx="3657600" cy="1645920"/>
            <a:chOff x="0" y="0"/>
            <a:chExt cx="4876800" cy="2194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76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87680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632960" y="0"/>
                  </a:lnTo>
                  <a:cubicBezTo>
                    <a:pt x="4767580" y="0"/>
                    <a:pt x="4876800" y="109220"/>
                    <a:pt x="4876800" y="243840"/>
                  </a:cubicBezTo>
                  <a:lnTo>
                    <a:pt x="4876800" y="1950720"/>
                  </a:lnTo>
                  <a:cubicBezTo>
                    <a:pt x="4876800" y="2085340"/>
                    <a:pt x="4767580" y="2194560"/>
                    <a:pt x="4632960" y="2194560"/>
                  </a:cubicBezTo>
                  <a:lnTo>
                    <a:pt x="243840" y="2194560"/>
                  </a:lnTo>
                  <a:cubicBezTo>
                    <a:pt x="109220" y="2194560"/>
                    <a:pt x="0" y="2085340"/>
                    <a:pt x="0" y="195072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697712" y="3291840"/>
            <a:ext cx="3657600" cy="1645920"/>
            <a:chOff x="0" y="0"/>
            <a:chExt cx="4876800" cy="2194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76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487680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Predictions on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new data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5486400"/>
            <a:ext cx="7955280" cy="3840480"/>
            <a:chOff x="0" y="0"/>
            <a:chExt cx="10607040" cy="5120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607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060704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411968" y="0"/>
                  </a:lnTo>
                  <a:cubicBezTo>
                    <a:pt x="10519664" y="0"/>
                    <a:pt x="10607040" y="87376"/>
                    <a:pt x="10607040" y="195072"/>
                  </a:cubicBezTo>
                  <a:lnTo>
                    <a:pt x="10607040" y="4925568"/>
                  </a:lnTo>
                  <a:cubicBezTo>
                    <a:pt x="10607040" y="5033264"/>
                    <a:pt x="10519664" y="5120640"/>
                    <a:pt x="10411968" y="5120640"/>
                  </a:cubicBezTo>
                  <a:lnTo>
                    <a:pt x="195072" y="5120640"/>
                  </a:lnTo>
                  <a:cubicBezTo>
                    <a:pt x="87376" y="5120640"/>
                    <a:pt x="0" y="5033264"/>
                    <a:pt x="0" y="49255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280160" y="5703570"/>
            <a:ext cx="722376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F6FD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Regression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80160" y="6435090"/>
            <a:ext cx="7223760" cy="270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Predicts a continuous number.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Ex: house price, temperature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Algorithms: Linear Regression, SVR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418320" y="5486400"/>
            <a:ext cx="7955280" cy="3840480"/>
            <a:chOff x="0" y="0"/>
            <a:chExt cx="10607040" cy="5120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07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060704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411968" y="0"/>
                  </a:lnTo>
                  <a:cubicBezTo>
                    <a:pt x="10519664" y="0"/>
                    <a:pt x="10607040" y="87376"/>
                    <a:pt x="10607040" y="195072"/>
                  </a:cubicBezTo>
                  <a:lnTo>
                    <a:pt x="10607040" y="4925568"/>
                  </a:lnTo>
                  <a:cubicBezTo>
                    <a:pt x="10607040" y="5033264"/>
                    <a:pt x="10519664" y="5120640"/>
                    <a:pt x="10411968" y="5120640"/>
                  </a:cubicBezTo>
                  <a:lnTo>
                    <a:pt x="195072" y="5120640"/>
                  </a:lnTo>
                  <a:cubicBezTo>
                    <a:pt x="87376" y="5120640"/>
                    <a:pt x="0" y="5033264"/>
                    <a:pt x="0" y="49255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9784080" y="5703570"/>
            <a:ext cx="722376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F6FD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Classification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84080" y="6435090"/>
            <a:ext cx="7223760" cy="270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Predicts a category or class.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Ex: spam vs. not spam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Algorithms: Logistic, KNN, Tree, Forest, SVM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39115"/>
            <a:ext cx="1243584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0B2A5B"/>
                </a:solidFill>
                <a:latin typeface="Cambria Bold"/>
                <a:ea typeface="Cambria Bold"/>
                <a:cs typeface="Cambria Bold"/>
                <a:sym typeface="Cambria Bold"/>
              </a:rPr>
              <a:t>Linear Regression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350240" y="731520"/>
            <a:ext cx="4023360" cy="694944"/>
            <a:chOff x="0" y="0"/>
            <a:chExt cx="5364480" cy="9265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lnTo>
                    <a:pt x="4901184" y="0"/>
                  </a:lnTo>
                  <a:cubicBezTo>
                    <a:pt x="5157089" y="0"/>
                    <a:pt x="5364480" y="207391"/>
                    <a:pt x="5364480" y="463296"/>
                  </a:cubicBezTo>
                  <a:cubicBezTo>
                    <a:pt x="5364480" y="719201"/>
                    <a:pt x="5157089" y="926592"/>
                    <a:pt x="4901184" y="926592"/>
                  </a:cubicBezTo>
                  <a:lnTo>
                    <a:pt x="463296" y="926592"/>
                  </a:ln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350240" y="731520"/>
            <a:ext cx="4023360" cy="694944"/>
            <a:chOff x="0" y="0"/>
            <a:chExt cx="536448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REGRESSION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1762125"/>
            <a:ext cx="164592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3A5A8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finds the best f</a:t>
            </a:r>
            <a:r>
              <a:rPr lang="en-US" sz="3000" i="true">
                <a:solidFill>
                  <a:srgbClr val="3A5A8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its a straight line to predict a continuous value from input features.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3108960"/>
            <a:ext cx="731520" cy="731520"/>
            <a:chOff x="0" y="0"/>
            <a:chExt cx="97536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3108960"/>
            <a:ext cx="731520" cy="731520"/>
            <a:chOff x="0" y="0"/>
            <a:chExt cx="97536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11680" y="3054096"/>
            <a:ext cx="8778240" cy="914400"/>
            <a:chOff x="0" y="0"/>
            <a:chExt cx="1170432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Model: ŷ = b₁x₁ + b₂x₂ + … + b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4242816"/>
            <a:ext cx="731520" cy="731520"/>
            <a:chOff x="0" y="0"/>
            <a:chExt cx="97536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4242816"/>
            <a:ext cx="731520" cy="731520"/>
            <a:chOff x="0" y="0"/>
            <a:chExt cx="97536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011680" y="4187952"/>
            <a:ext cx="8778240" cy="914400"/>
            <a:chOff x="0" y="0"/>
            <a:chExt cx="1170432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Loss: minimise Mean Squared Error between ŷ and 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5376672"/>
            <a:ext cx="731520" cy="731520"/>
            <a:chOff x="0" y="0"/>
            <a:chExt cx="97536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5376672"/>
            <a:ext cx="731520" cy="731520"/>
            <a:chOff x="0" y="0"/>
            <a:chExt cx="97536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011680" y="5321808"/>
            <a:ext cx="8778240" cy="914400"/>
            <a:chOff x="0" y="0"/>
            <a:chExt cx="1170432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Solve with Ordinary Least Squares or Gradient Descent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6510528"/>
            <a:ext cx="731520" cy="731520"/>
            <a:chOff x="0" y="0"/>
            <a:chExt cx="97536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14400" y="6510528"/>
            <a:ext cx="731520" cy="731520"/>
            <a:chOff x="0" y="0"/>
            <a:chExt cx="97536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011680" y="6455664"/>
            <a:ext cx="8778240" cy="914400"/>
            <a:chOff x="0" y="0"/>
            <a:chExt cx="1170432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Evaluate fit using R² and RMSE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338560" y="3108960"/>
            <a:ext cx="6035040" cy="4389120"/>
            <a:chOff x="0" y="0"/>
            <a:chExt cx="8046720" cy="5852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0467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80467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802880" y="0"/>
                  </a:lnTo>
                  <a:cubicBezTo>
                    <a:pt x="7937500" y="0"/>
                    <a:pt x="8046720" y="109220"/>
                    <a:pt x="8046720" y="243840"/>
                  </a:cubicBezTo>
                  <a:lnTo>
                    <a:pt x="8046720" y="5608320"/>
                  </a:lnTo>
                  <a:cubicBezTo>
                    <a:pt x="8046720" y="5742940"/>
                    <a:pt x="7937500" y="5852160"/>
                    <a:pt x="7802880" y="5852160"/>
                  </a:cubicBezTo>
                  <a:lnTo>
                    <a:pt x="243840" y="5852160"/>
                  </a:lnTo>
                  <a:cubicBezTo>
                    <a:pt x="109220" y="5852160"/>
                    <a:pt x="0" y="5742940"/>
                    <a:pt x="0" y="5608320"/>
                  </a:cubicBezTo>
                  <a:close/>
                </a:path>
              </a:pathLst>
            </a:custGeom>
            <a:solidFill>
              <a:srgbClr val="0B2A5B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1795760" y="3400044"/>
            <a:ext cx="51206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8DB8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FORMULA / IDEA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795760" y="3931920"/>
            <a:ext cx="5120640" cy="1554480"/>
            <a:chOff x="0" y="0"/>
            <a:chExt cx="6827520" cy="2072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6" r="0" b="-1418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85725"/>
              <a:ext cx="6827520" cy="2158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ŷ = mx + c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795760" y="5722620"/>
            <a:ext cx="51206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8DB8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USED FOR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795760" y="6160770"/>
            <a:ext cx="5120640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House price from area, sales forecasting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645920" y="8231505"/>
            <a:ext cx="13716000" cy="1294823"/>
            <a:chOff x="0" y="0"/>
            <a:chExt cx="18288000" cy="172643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288000" cy="1726431"/>
            </a:xfrm>
            <a:custGeom>
              <a:avLst/>
              <a:gdLst/>
              <a:ahLst/>
              <a:cxnLst/>
              <a:rect r="r" b="b" t="t" l="l"/>
              <a:pathLst>
                <a:path h="1726431" w="18288000">
                  <a:moveTo>
                    <a:pt x="0" y="287766"/>
                  </a:moveTo>
                  <a:cubicBezTo>
                    <a:pt x="0" y="128811"/>
                    <a:pt x="120547" y="0"/>
                    <a:pt x="269306" y="0"/>
                  </a:cubicBezTo>
                  <a:lnTo>
                    <a:pt x="18018694" y="0"/>
                  </a:lnTo>
                  <a:cubicBezTo>
                    <a:pt x="18167452" y="0"/>
                    <a:pt x="18288000" y="128811"/>
                    <a:pt x="18288000" y="287766"/>
                  </a:cubicBezTo>
                  <a:lnTo>
                    <a:pt x="18288000" y="1438665"/>
                  </a:lnTo>
                  <a:cubicBezTo>
                    <a:pt x="18288000" y="1597621"/>
                    <a:pt x="18167452" y="1726431"/>
                    <a:pt x="18018694" y="1726431"/>
                  </a:cubicBezTo>
                  <a:lnTo>
                    <a:pt x="269306" y="1726431"/>
                  </a:lnTo>
                  <a:cubicBezTo>
                    <a:pt x="120547" y="1726431"/>
                    <a:pt x="0" y="1597620"/>
                    <a:pt x="0" y="1438665"/>
                  </a:cubicBezTo>
                  <a:close/>
                </a:path>
              </a:pathLst>
            </a:custGeom>
            <a:solidFill>
              <a:srgbClr val="0B2A5B"/>
            </a:solidFill>
            <a:ln w="38100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8288000" cy="1726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6FD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E-COMMERCE :</a:t>
              </a:r>
              <a:r>
                <a:rPr lang="en-US" sz="2400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Regression • Net_Sales  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MAE:1583.5 | RMSE: 2,810.58  |  R²: 0.815 |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39115"/>
            <a:ext cx="1243584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0B2A5B"/>
                </a:solidFill>
                <a:latin typeface="Cambria Bold"/>
                <a:ea typeface="Cambria Bold"/>
                <a:cs typeface="Cambria Bold"/>
                <a:sym typeface="Cambria Bold"/>
              </a:rPr>
              <a:t>Logistic Regression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350240" y="731520"/>
            <a:ext cx="4023360" cy="694944"/>
            <a:chOff x="0" y="0"/>
            <a:chExt cx="5364480" cy="9265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lnTo>
                    <a:pt x="4901184" y="0"/>
                  </a:lnTo>
                  <a:cubicBezTo>
                    <a:pt x="5157089" y="0"/>
                    <a:pt x="5364480" y="207391"/>
                    <a:pt x="5364480" y="463296"/>
                  </a:cubicBezTo>
                  <a:cubicBezTo>
                    <a:pt x="5364480" y="719201"/>
                    <a:pt x="5157089" y="926592"/>
                    <a:pt x="4901184" y="926592"/>
                  </a:cubicBezTo>
                  <a:lnTo>
                    <a:pt x="463296" y="926592"/>
                  </a:ln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350240" y="731520"/>
            <a:ext cx="4023360" cy="694944"/>
            <a:chOff x="0" y="0"/>
            <a:chExt cx="536448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1762125"/>
            <a:ext cx="164592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3A5A8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Predicts the probability of a class using the sigmoid function; despite the name, it is a classifier.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3108960"/>
            <a:ext cx="731520" cy="731520"/>
            <a:chOff x="0" y="0"/>
            <a:chExt cx="97536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3108960"/>
            <a:ext cx="731520" cy="731520"/>
            <a:chOff x="0" y="0"/>
            <a:chExt cx="97536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11680" y="3054096"/>
            <a:ext cx="8778240" cy="914400"/>
            <a:chOff x="0" y="0"/>
            <a:chExt cx="1170432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 a linear score z = wx + b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4242816"/>
            <a:ext cx="731520" cy="731520"/>
            <a:chOff x="0" y="0"/>
            <a:chExt cx="97536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4242816"/>
            <a:ext cx="731520" cy="731520"/>
            <a:chOff x="0" y="0"/>
            <a:chExt cx="97536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011680" y="4187952"/>
            <a:ext cx="8778240" cy="914400"/>
            <a:chOff x="0" y="0"/>
            <a:chExt cx="1170432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Sigmoid squashes z into a probability between 0 and 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5376672"/>
            <a:ext cx="731520" cy="731520"/>
            <a:chOff x="0" y="0"/>
            <a:chExt cx="97536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5376672"/>
            <a:ext cx="731520" cy="731520"/>
            <a:chOff x="0" y="0"/>
            <a:chExt cx="97536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011680" y="5321808"/>
            <a:ext cx="8778240" cy="914400"/>
            <a:chOff x="0" y="0"/>
            <a:chExt cx="1170432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threshold (usually 0.5) decides the class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6510528"/>
            <a:ext cx="731520" cy="731520"/>
            <a:chOff x="0" y="0"/>
            <a:chExt cx="97536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14400" y="6510528"/>
            <a:ext cx="731520" cy="731520"/>
            <a:chOff x="0" y="0"/>
            <a:chExt cx="97536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011680" y="6455664"/>
            <a:ext cx="8778240" cy="914400"/>
            <a:chOff x="0" y="0"/>
            <a:chExt cx="1170432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Trained by minimising log-loss (cross-entropy)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338560" y="3108960"/>
            <a:ext cx="6035040" cy="4389120"/>
            <a:chOff x="0" y="0"/>
            <a:chExt cx="8046720" cy="5852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0467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80467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802880" y="0"/>
                  </a:lnTo>
                  <a:cubicBezTo>
                    <a:pt x="7937500" y="0"/>
                    <a:pt x="8046720" y="109220"/>
                    <a:pt x="8046720" y="243840"/>
                  </a:cubicBezTo>
                  <a:lnTo>
                    <a:pt x="8046720" y="5608320"/>
                  </a:lnTo>
                  <a:cubicBezTo>
                    <a:pt x="8046720" y="5742940"/>
                    <a:pt x="7937500" y="5852160"/>
                    <a:pt x="7802880" y="5852160"/>
                  </a:cubicBezTo>
                  <a:lnTo>
                    <a:pt x="243840" y="5852160"/>
                  </a:lnTo>
                  <a:cubicBezTo>
                    <a:pt x="109220" y="5852160"/>
                    <a:pt x="0" y="5742940"/>
                    <a:pt x="0" y="5608320"/>
                  </a:cubicBezTo>
                  <a:close/>
                </a:path>
              </a:pathLst>
            </a:custGeom>
            <a:solidFill>
              <a:srgbClr val="0B2A5B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1795760" y="3400044"/>
            <a:ext cx="51206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8DB8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FORMULA / IDEA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795760" y="3931920"/>
            <a:ext cx="5120640" cy="1554480"/>
            <a:chOff x="0" y="0"/>
            <a:chExt cx="6827520" cy="2072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6" r="0" b="-1418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85725"/>
              <a:ext cx="6827520" cy="2158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 = 1 / (1 + e⁻ᶻ)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795760" y="5722620"/>
            <a:ext cx="51206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8DB8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USED FOR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795760" y="6160770"/>
            <a:ext cx="5120640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Spam detection, disease diagnosis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645920" y="8231505"/>
            <a:ext cx="14057965" cy="1294823"/>
            <a:chOff x="0" y="0"/>
            <a:chExt cx="18743954" cy="172643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743954" cy="1726431"/>
            </a:xfrm>
            <a:custGeom>
              <a:avLst/>
              <a:gdLst/>
              <a:ahLst/>
              <a:cxnLst/>
              <a:rect r="r" b="b" t="t" l="l"/>
              <a:pathLst>
                <a:path h="1726431" w="18743954">
                  <a:moveTo>
                    <a:pt x="0" y="287766"/>
                  </a:moveTo>
                  <a:cubicBezTo>
                    <a:pt x="0" y="128811"/>
                    <a:pt x="123553" y="0"/>
                    <a:pt x="276021" y="0"/>
                  </a:cubicBezTo>
                  <a:lnTo>
                    <a:pt x="18467933" y="0"/>
                  </a:lnTo>
                  <a:cubicBezTo>
                    <a:pt x="18620400" y="0"/>
                    <a:pt x="18743954" y="128811"/>
                    <a:pt x="18743954" y="287766"/>
                  </a:cubicBezTo>
                  <a:lnTo>
                    <a:pt x="18743954" y="1438665"/>
                  </a:lnTo>
                  <a:cubicBezTo>
                    <a:pt x="18743954" y="1597621"/>
                    <a:pt x="18620400" y="1726431"/>
                    <a:pt x="18467933" y="1726431"/>
                  </a:cubicBezTo>
                  <a:lnTo>
                    <a:pt x="276021" y="1726431"/>
                  </a:lnTo>
                  <a:cubicBezTo>
                    <a:pt x="123553" y="1726431"/>
                    <a:pt x="0" y="1597620"/>
                    <a:pt x="0" y="1438665"/>
                  </a:cubicBezTo>
                  <a:close/>
                </a:path>
              </a:pathLst>
            </a:custGeom>
            <a:solidFill>
              <a:srgbClr val="0B2A5B"/>
            </a:solidFill>
            <a:ln w="38100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8743954" cy="1726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6FD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E-COMMERCE  </a:t>
              </a:r>
              <a:r>
                <a:rPr lang="en-US" sz="2400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Classification • Return_Status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Accuracy: 86.42%  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39115"/>
            <a:ext cx="1243584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0B2A5B"/>
                </a:solidFill>
                <a:latin typeface="Cambria Bold"/>
                <a:ea typeface="Cambria Bold"/>
                <a:cs typeface="Cambria Bold"/>
                <a:sym typeface="Cambria Bold"/>
              </a:rPr>
              <a:t>K-Nearest Neighbours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350240" y="731520"/>
            <a:ext cx="4023360" cy="694944"/>
            <a:chOff x="0" y="0"/>
            <a:chExt cx="5364480" cy="9265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lnTo>
                    <a:pt x="4901184" y="0"/>
                  </a:lnTo>
                  <a:cubicBezTo>
                    <a:pt x="5157089" y="0"/>
                    <a:pt x="5364480" y="207391"/>
                    <a:pt x="5364480" y="463296"/>
                  </a:cubicBezTo>
                  <a:cubicBezTo>
                    <a:pt x="5364480" y="719201"/>
                    <a:pt x="5157089" y="926592"/>
                    <a:pt x="4901184" y="926592"/>
                  </a:cubicBezTo>
                  <a:lnTo>
                    <a:pt x="463296" y="926592"/>
                  </a:ln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350240" y="731520"/>
            <a:ext cx="4023360" cy="694944"/>
            <a:chOff x="0" y="0"/>
            <a:chExt cx="536448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/ REGRESSION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1762125"/>
            <a:ext cx="164592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3A5A8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 lazy learner: it labels a new point by looking at its K closest training points.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3108960"/>
            <a:ext cx="731520" cy="731520"/>
            <a:chOff x="0" y="0"/>
            <a:chExt cx="97536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3108960"/>
            <a:ext cx="731520" cy="731520"/>
            <a:chOff x="0" y="0"/>
            <a:chExt cx="97536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11680" y="3054096"/>
            <a:ext cx="8778240" cy="914400"/>
            <a:chOff x="0" y="0"/>
            <a:chExt cx="1170432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Choose K, the number of neighbours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4242816"/>
            <a:ext cx="731520" cy="731520"/>
            <a:chOff x="0" y="0"/>
            <a:chExt cx="97536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4242816"/>
            <a:ext cx="731520" cy="731520"/>
            <a:chOff x="0" y="0"/>
            <a:chExt cx="97536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011680" y="4187952"/>
            <a:ext cx="8778240" cy="914400"/>
            <a:chOff x="0" y="0"/>
            <a:chExt cx="1170432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 distance (Euclidean or Manhattan) to every training point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5376672"/>
            <a:ext cx="731520" cy="731520"/>
            <a:chOff x="0" y="0"/>
            <a:chExt cx="97536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5376672"/>
            <a:ext cx="731520" cy="731520"/>
            <a:chOff x="0" y="0"/>
            <a:chExt cx="97536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011680" y="5321808"/>
            <a:ext cx="8778240" cy="914400"/>
            <a:chOff x="0" y="0"/>
            <a:chExt cx="1170432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Select the K nearest points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6510528"/>
            <a:ext cx="731520" cy="731520"/>
            <a:chOff x="0" y="0"/>
            <a:chExt cx="97536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14400" y="6510528"/>
            <a:ext cx="731520" cy="731520"/>
            <a:chOff x="0" y="0"/>
            <a:chExt cx="97536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011680" y="6455664"/>
            <a:ext cx="8778240" cy="914400"/>
            <a:chOff x="0" y="0"/>
            <a:chExt cx="1170432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Classification: majority vote; regression: average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338560" y="3108960"/>
            <a:ext cx="6035040" cy="4389120"/>
            <a:chOff x="0" y="0"/>
            <a:chExt cx="8046720" cy="5852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0467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80467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802880" y="0"/>
                  </a:lnTo>
                  <a:cubicBezTo>
                    <a:pt x="7937500" y="0"/>
                    <a:pt x="8046720" y="109220"/>
                    <a:pt x="8046720" y="243840"/>
                  </a:cubicBezTo>
                  <a:lnTo>
                    <a:pt x="8046720" y="5608320"/>
                  </a:lnTo>
                  <a:cubicBezTo>
                    <a:pt x="8046720" y="5742940"/>
                    <a:pt x="7937500" y="5852160"/>
                    <a:pt x="7802880" y="5852160"/>
                  </a:cubicBezTo>
                  <a:lnTo>
                    <a:pt x="243840" y="5852160"/>
                  </a:lnTo>
                  <a:cubicBezTo>
                    <a:pt x="109220" y="5852160"/>
                    <a:pt x="0" y="5742940"/>
                    <a:pt x="0" y="5608320"/>
                  </a:cubicBezTo>
                  <a:close/>
                </a:path>
              </a:pathLst>
            </a:custGeom>
            <a:solidFill>
              <a:srgbClr val="0B2A5B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1795760" y="3400044"/>
            <a:ext cx="51206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8DB8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FORMULA / IDEA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795760" y="3931920"/>
            <a:ext cx="5120640" cy="1554480"/>
            <a:chOff x="0" y="0"/>
            <a:chExt cx="6827520" cy="2072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6" r="0" b="-1418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85725"/>
              <a:ext cx="6827520" cy="2158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 = √Σ(xᵢ − yᵢ)²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795760" y="5722620"/>
            <a:ext cx="51206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8DB8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USED FOR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795760" y="6160770"/>
            <a:ext cx="5120640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Recommendations, image recognition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645920" y="8231505"/>
            <a:ext cx="14024733" cy="1294823"/>
            <a:chOff x="0" y="0"/>
            <a:chExt cx="18699644" cy="172643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699645" cy="1726431"/>
            </a:xfrm>
            <a:custGeom>
              <a:avLst/>
              <a:gdLst/>
              <a:ahLst/>
              <a:cxnLst/>
              <a:rect r="r" b="b" t="t" l="l"/>
              <a:pathLst>
                <a:path h="1726431" w="18699645">
                  <a:moveTo>
                    <a:pt x="0" y="287766"/>
                  </a:moveTo>
                  <a:cubicBezTo>
                    <a:pt x="0" y="128811"/>
                    <a:pt x="123261" y="0"/>
                    <a:pt x="275368" y="0"/>
                  </a:cubicBezTo>
                  <a:lnTo>
                    <a:pt x="18424275" y="0"/>
                  </a:lnTo>
                  <a:cubicBezTo>
                    <a:pt x="18576382" y="0"/>
                    <a:pt x="18699645" y="128811"/>
                    <a:pt x="18699645" y="287766"/>
                  </a:cubicBezTo>
                  <a:lnTo>
                    <a:pt x="18699645" y="1438665"/>
                  </a:lnTo>
                  <a:cubicBezTo>
                    <a:pt x="18699645" y="1597621"/>
                    <a:pt x="18576382" y="1726431"/>
                    <a:pt x="18424275" y="1726431"/>
                  </a:cubicBezTo>
                  <a:lnTo>
                    <a:pt x="275368" y="1726431"/>
                  </a:lnTo>
                  <a:cubicBezTo>
                    <a:pt x="123261" y="1726431"/>
                    <a:pt x="0" y="1597620"/>
                    <a:pt x="0" y="1438665"/>
                  </a:cubicBezTo>
                  <a:close/>
                </a:path>
              </a:pathLst>
            </a:custGeom>
            <a:solidFill>
              <a:srgbClr val="0B2A5B"/>
            </a:solidFill>
            <a:ln w="38100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8699644" cy="1726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DB8F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E-COMMERCE</a:t>
              </a:r>
              <a:r>
                <a:rPr lang="en-US" sz="2400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400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Classification • Return_Status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Accuracy: 82.32%  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39115"/>
            <a:ext cx="1243584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0B2A5B"/>
                </a:solidFill>
                <a:latin typeface="Cambria Bold"/>
                <a:ea typeface="Cambria Bold"/>
                <a:cs typeface="Cambria Bold"/>
                <a:sym typeface="Cambria Bold"/>
              </a:rPr>
              <a:t>Decision Tree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350240" y="731520"/>
            <a:ext cx="4023360" cy="694944"/>
            <a:chOff x="0" y="0"/>
            <a:chExt cx="5364480" cy="9265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lnTo>
                    <a:pt x="4901184" y="0"/>
                  </a:lnTo>
                  <a:cubicBezTo>
                    <a:pt x="5157089" y="0"/>
                    <a:pt x="5364480" y="207391"/>
                    <a:pt x="5364480" y="463296"/>
                  </a:cubicBezTo>
                  <a:cubicBezTo>
                    <a:pt x="5364480" y="719201"/>
                    <a:pt x="5157089" y="926592"/>
                    <a:pt x="4901184" y="926592"/>
                  </a:cubicBezTo>
                  <a:lnTo>
                    <a:pt x="463296" y="926592"/>
                  </a:ln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350240" y="731520"/>
            <a:ext cx="4023360" cy="694944"/>
            <a:chOff x="0" y="0"/>
            <a:chExt cx="536448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/ REGRESSION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1762125"/>
            <a:ext cx="164592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3A5A8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 flowchart of if-else questions that splits the data until it reaches a decision at a leaf.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3108960"/>
            <a:ext cx="731520" cy="731520"/>
            <a:chOff x="0" y="0"/>
            <a:chExt cx="97536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3108960"/>
            <a:ext cx="731520" cy="731520"/>
            <a:chOff x="0" y="0"/>
            <a:chExt cx="97536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11680" y="3054096"/>
            <a:ext cx="8778240" cy="914400"/>
            <a:chOff x="0" y="0"/>
            <a:chExt cx="1170432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Pick the best feature to split on using Gini or Information Gain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4242816"/>
            <a:ext cx="731520" cy="731520"/>
            <a:chOff x="0" y="0"/>
            <a:chExt cx="97536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4242816"/>
            <a:ext cx="731520" cy="731520"/>
            <a:chOff x="0" y="0"/>
            <a:chExt cx="97536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011680" y="4187952"/>
            <a:ext cx="8778240" cy="914400"/>
            <a:chOff x="0" y="0"/>
            <a:chExt cx="1170432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Split the data into branches and repeat recursively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5376672"/>
            <a:ext cx="731520" cy="731520"/>
            <a:chOff x="0" y="0"/>
            <a:chExt cx="97536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5376672"/>
            <a:ext cx="731520" cy="731520"/>
            <a:chOff x="0" y="0"/>
            <a:chExt cx="97536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011680" y="5321808"/>
            <a:ext cx="8778240" cy="914400"/>
            <a:chOff x="0" y="0"/>
            <a:chExt cx="1170432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Stop at maximum depth or when leaves are pure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6510528"/>
            <a:ext cx="731520" cy="731520"/>
            <a:chOff x="0" y="0"/>
            <a:chExt cx="97536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14400" y="6510528"/>
            <a:ext cx="731520" cy="731520"/>
            <a:chOff x="0" y="0"/>
            <a:chExt cx="97536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011680" y="6455664"/>
            <a:ext cx="8778240" cy="914400"/>
            <a:chOff x="0" y="0"/>
            <a:chExt cx="1170432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Prune the tree to reduce overfitting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338560" y="3108960"/>
            <a:ext cx="6035040" cy="4389120"/>
            <a:chOff x="0" y="0"/>
            <a:chExt cx="8046720" cy="5852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0467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80467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802880" y="0"/>
                  </a:lnTo>
                  <a:cubicBezTo>
                    <a:pt x="7937500" y="0"/>
                    <a:pt x="8046720" y="109220"/>
                    <a:pt x="8046720" y="243840"/>
                  </a:cubicBezTo>
                  <a:lnTo>
                    <a:pt x="8046720" y="5608320"/>
                  </a:lnTo>
                  <a:cubicBezTo>
                    <a:pt x="8046720" y="5742940"/>
                    <a:pt x="7937500" y="5852160"/>
                    <a:pt x="7802880" y="5852160"/>
                  </a:cubicBezTo>
                  <a:lnTo>
                    <a:pt x="243840" y="5852160"/>
                  </a:lnTo>
                  <a:cubicBezTo>
                    <a:pt x="109220" y="5852160"/>
                    <a:pt x="0" y="5742940"/>
                    <a:pt x="0" y="5608320"/>
                  </a:cubicBezTo>
                  <a:close/>
                </a:path>
              </a:pathLst>
            </a:custGeom>
            <a:solidFill>
              <a:srgbClr val="0B2A5B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1795760" y="3400044"/>
            <a:ext cx="51206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8DB8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FORMULA / IDEA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795760" y="3931920"/>
            <a:ext cx="5120640" cy="1554480"/>
            <a:chOff x="0" y="0"/>
            <a:chExt cx="6827520" cy="2072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6" r="0" b="-1418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85725"/>
              <a:ext cx="6827520" cy="2158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Gini = 1 − Σpᵢ²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795760" y="5722620"/>
            <a:ext cx="51206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8DB8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USED FOR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795760" y="6160770"/>
            <a:ext cx="5120640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Loan approval, medical diagnosis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86790" y="8193405"/>
            <a:ext cx="22166580" cy="1518285"/>
            <a:chOff x="0" y="0"/>
            <a:chExt cx="29555440" cy="20243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9555439" cy="2024380"/>
            </a:xfrm>
            <a:custGeom>
              <a:avLst/>
              <a:gdLst/>
              <a:ahLst/>
              <a:cxnLst/>
              <a:rect r="r" b="b" t="t" l="l"/>
              <a:pathLst>
                <a:path h="2024380" w="29555439">
                  <a:moveTo>
                    <a:pt x="0" y="337430"/>
                  </a:moveTo>
                  <a:cubicBezTo>
                    <a:pt x="0" y="151041"/>
                    <a:pt x="194818" y="0"/>
                    <a:pt x="435229" y="0"/>
                  </a:cubicBezTo>
                  <a:lnTo>
                    <a:pt x="29120210" y="0"/>
                  </a:lnTo>
                  <a:cubicBezTo>
                    <a:pt x="29360620" y="0"/>
                    <a:pt x="29555439" y="151041"/>
                    <a:pt x="29555439" y="337430"/>
                  </a:cubicBezTo>
                  <a:lnTo>
                    <a:pt x="29555439" y="1686951"/>
                  </a:lnTo>
                  <a:cubicBezTo>
                    <a:pt x="29555439" y="1873339"/>
                    <a:pt x="29360620" y="2024380"/>
                    <a:pt x="29120210" y="2024380"/>
                  </a:cubicBezTo>
                  <a:lnTo>
                    <a:pt x="435229" y="2024380"/>
                  </a:lnTo>
                  <a:cubicBezTo>
                    <a:pt x="194818" y="2024380"/>
                    <a:pt x="0" y="1873339"/>
                    <a:pt x="0" y="1686951"/>
                  </a:cubicBezTo>
                  <a:close/>
                </a:path>
              </a:pathLst>
            </a:custGeom>
            <a:solidFill>
              <a:srgbClr val="0B2A5B"/>
            </a:solidFill>
            <a:ln w="38100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29555440" cy="2024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DB8F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E-COMMERCE </a:t>
              </a:r>
              <a:r>
                <a:rPr lang="en-US" sz="2400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400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Classification • Return_Status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Accuracy: 85.92%  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39115"/>
            <a:ext cx="1243584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0B2A5B"/>
                </a:solidFill>
                <a:latin typeface="Cambria Bold"/>
                <a:ea typeface="Cambria Bold"/>
                <a:cs typeface="Cambria Bold"/>
                <a:sym typeface="Cambria Bold"/>
              </a:rPr>
              <a:t>Random Forest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350240" y="731520"/>
            <a:ext cx="4023360" cy="694944"/>
            <a:chOff x="0" y="0"/>
            <a:chExt cx="5364480" cy="9265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lnTo>
                    <a:pt x="4901184" y="0"/>
                  </a:lnTo>
                  <a:cubicBezTo>
                    <a:pt x="5157089" y="0"/>
                    <a:pt x="5364480" y="207391"/>
                    <a:pt x="5364480" y="463296"/>
                  </a:cubicBezTo>
                  <a:cubicBezTo>
                    <a:pt x="5364480" y="719201"/>
                    <a:pt x="5157089" y="926592"/>
                    <a:pt x="4901184" y="926592"/>
                  </a:cubicBezTo>
                  <a:lnTo>
                    <a:pt x="463296" y="926592"/>
                  </a:ln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350240" y="731520"/>
            <a:ext cx="4023360" cy="694944"/>
            <a:chOff x="0" y="0"/>
            <a:chExt cx="536448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/ REGRESSION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1762125"/>
            <a:ext cx="164592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3A5A8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An ensemble of many decision trees whose combined vote is more accurate and stable than one tree.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3108960"/>
            <a:ext cx="731520" cy="731520"/>
            <a:chOff x="0" y="0"/>
            <a:chExt cx="97536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3108960"/>
            <a:ext cx="731520" cy="731520"/>
            <a:chOff x="0" y="0"/>
            <a:chExt cx="97536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11680" y="3054096"/>
            <a:ext cx="8778240" cy="914400"/>
            <a:chOff x="0" y="0"/>
            <a:chExt cx="1170432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Bootstrap sampling: each tree trains on a random sample of rows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4242816"/>
            <a:ext cx="731520" cy="731520"/>
            <a:chOff x="0" y="0"/>
            <a:chExt cx="97536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4242816"/>
            <a:ext cx="731520" cy="731520"/>
            <a:chOff x="0" y="0"/>
            <a:chExt cx="97536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" y="5376672"/>
            <a:ext cx="731520" cy="731520"/>
            <a:chOff x="0" y="0"/>
            <a:chExt cx="97536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" y="5376672"/>
            <a:ext cx="731520" cy="731520"/>
            <a:chOff x="0" y="0"/>
            <a:chExt cx="975360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011680" y="5321808"/>
            <a:ext cx="8778240" cy="914400"/>
            <a:chOff x="0" y="0"/>
            <a:chExt cx="1170432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many trees independently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" y="6510528"/>
            <a:ext cx="731520" cy="731520"/>
            <a:chOff x="0" y="0"/>
            <a:chExt cx="975360" cy="975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" y="6510528"/>
            <a:ext cx="731520" cy="731520"/>
            <a:chOff x="0" y="0"/>
            <a:chExt cx="975360" cy="975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11680" y="6455664"/>
            <a:ext cx="8778240" cy="914400"/>
            <a:chOff x="0" y="0"/>
            <a:chExt cx="11704320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Classification: majority vote; regression: average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338560" y="3108960"/>
            <a:ext cx="6035040" cy="4389120"/>
            <a:chOff x="0" y="0"/>
            <a:chExt cx="8046720" cy="58521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0467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80467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802880" y="0"/>
                  </a:lnTo>
                  <a:cubicBezTo>
                    <a:pt x="7937500" y="0"/>
                    <a:pt x="8046720" y="109220"/>
                    <a:pt x="8046720" y="243840"/>
                  </a:cubicBezTo>
                  <a:lnTo>
                    <a:pt x="8046720" y="5608320"/>
                  </a:lnTo>
                  <a:cubicBezTo>
                    <a:pt x="8046720" y="5742940"/>
                    <a:pt x="7937500" y="5852160"/>
                    <a:pt x="7802880" y="5852160"/>
                  </a:cubicBezTo>
                  <a:lnTo>
                    <a:pt x="243840" y="5852160"/>
                  </a:lnTo>
                  <a:cubicBezTo>
                    <a:pt x="109220" y="5852160"/>
                    <a:pt x="0" y="5742940"/>
                    <a:pt x="0" y="5608320"/>
                  </a:cubicBezTo>
                  <a:close/>
                </a:path>
              </a:pathLst>
            </a:custGeom>
            <a:solidFill>
              <a:srgbClr val="0B2A5B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1795760" y="3400044"/>
            <a:ext cx="51206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8DB8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FORMULA / IDEA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1795760" y="3931920"/>
            <a:ext cx="5120640" cy="1554480"/>
            <a:chOff x="0" y="0"/>
            <a:chExt cx="6827520" cy="2072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275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6" r="0" b="-1418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6827520" cy="2158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Bagging + random features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1795760" y="5722620"/>
            <a:ext cx="51206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8DB8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USED FOR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795760" y="6160770"/>
            <a:ext cx="5120640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Fraud detection, feature importance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86790" y="8416867"/>
            <a:ext cx="14921998" cy="1656773"/>
            <a:chOff x="0" y="0"/>
            <a:chExt cx="19895997" cy="220903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895996" cy="2209031"/>
            </a:xfrm>
            <a:custGeom>
              <a:avLst/>
              <a:gdLst/>
              <a:ahLst/>
              <a:cxnLst/>
              <a:rect r="r" b="b" t="t" l="l"/>
              <a:pathLst>
                <a:path h="2209031" w="19895996">
                  <a:moveTo>
                    <a:pt x="0" y="368208"/>
                  </a:moveTo>
                  <a:cubicBezTo>
                    <a:pt x="0" y="164818"/>
                    <a:pt x="131147" y="0"/>
                    <a:pt x="292985" y="0"/>
                  </a:cubicBezTo>
                  <a:lnTo>
                    <a:pt x="19603011" y="0"/>
                  </a:lnTo>
                  <a:cubicBezTo>
                    <a:pt x="19764849" y="0"/>
                    <a:pt x="19895996" y="164818"/>
                    <a:pt x="19895996" y="368208"/>
                  </a:cubicBezTo>
                  <a:lnTo>
                    <a:pt x="19895996" y="1840823"/>
                  </a:lnTo>
                  <a:cubicBezTo>
                    <a:pt x="19895996" y="2044213"/>
                    <a:pt x="19764849" y="2209031"/>
                    <a:pt x="19603011" y="2209031"/>
                  </a:cubicBezTo>
                  <a:lnTo>
                    <a:pt x="292985" y="2209031"/>
                  </a:lnTo>
                  <a:cubicBezTo>
                    <a:pt x="131147" y="2209031"/>
                    <a:pt x="0" y="2044213"/>
                    <a:pt x="0" y="1840823"/>
                  </a:cubicBezTo>
                  <a:close/>
                </a:path>
              </a:pathLst>
            </a:custGeom>
            <a:solidFill>
              <a:srgbClr val="0B2A5B"/>
            </a:solidFill>
            <a:ln w="38100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9895997" cy="2209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DB8F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E-COMMERCE </a:t>
              </a:r>
              <a:r>
                <a:rPr lang="en-US" sz="2400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Classification • Return_Status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Accuracy: 85.11%  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2011680" y="4392740"/>
            <a:ext cx="708927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Each split considers only a random subset of features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39115"/>
            <a:ext cx="1243584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0B2A5B"/>
                </a:solidFill>
                <a:latin typeface="Cambria Bold"/>
                <a:ea typeface="Cambria Bold"/>
                <a:cs typeface="Cambria Bold"/>
                <a:sym typeface="Cambria Bold"/>
              </a:rPr>
              <a:t>Support Vector Machine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350240" y="731520"/>
            <a:ext cx="4023360" cy="694944"/>
            <a:chOff x="0" y="0"/>
            <a:chExt cx="5364480" cy="9265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lnTo>
                    <a:pt x="4901184" y="0"/>
                  </a:lnTo>
                  <a:cubicBezTo>
                    <a:pt x="5157089" y="0"/>
                    <a:pt x="5364480" y="207391"/>
                    <a:pt x="5364480" y="463296"/>
                  </a:cubicBezTo>
                  <a:cubicBezTo>
                    <a:pt x="5364480" y="719201"/>
                    <a:pt x="5157089" y="926592"/>
                    <a:pt x="4901184" y="926592"/>
                  </a:cubicBezTo>
                  <a:lnTo>
                    <a:pt x="463296" y="926592"/>
                  </a:ln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350240" y="731520"/>
            <a:ext cx="4023360" cy="694944"/>
            <a:chOff x="0" y="0"/>
            <a:chExt cx="536448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/ REGRESSION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1762125"/>
            <a:ext cx="164592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3A5A8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SVM finds the hyperplane that separates the classes with the widest possible margin.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3108960"/>
            <a:ext cx="731520" cy="731520"/>
            <a:chOff x="0" y="0"/>
            <a:chExt cx="97536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3108960"/>
            <a:ext cx="731520" cy="731520"/>
            <a:chOff x="0" y="0"/>
            <a:chExt cx="97536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11680" y="3054096"/>
            <a:ext cx="8778240" cy="914400"/>
            <a:chOff x="0" y="0"/>
            <a:chExt cx="1170432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 for a hyperplane that separates the classes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4242816"/>
            <a:ext cx="731520" cy="731520"/>
            <a:chOff x="0" y="0"/>
            <a:chExt cx="97536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4242816"/>
            <a:ext cx="731520" cy="731520"/>
            <a:chOff x="0" y="0"/>
            <a:chExt cx="97536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011680" y="4187952"/>
            <a:ext cx="8778240" cy="914400"/>
            <a:chOff x="0" y="0"/>
            <a:chExt cx="1170432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Maximise the margin to the nearest points (support vectors)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5376672"/>
            <a:ext cx="731520" cy="731520"/>
            <a:chOff x="0" y="0"/>
            <a:chExt cx="97536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5376672"/>
            <a:ext cx="731520" cy="731520"/>
            <a:chOff x="0" y="0"/>
            <a:chExt cx="97536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011680" y="5321808"/>
            <a:ext cx="8778240" cy="914400"/>
            <a:chOff x="0" y="0"/>
            <a:chExt cx="1170432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Kernel trick (linear, RBF, polynomial) handles non-linear data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6510528"/>
            <a:ext cx="731520" cy="731520"/>
            <a:chOff x="0" y="0"/>
            <a:chExt cx="97536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1F6FD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14400" y="6510528"/>
            <a:ext cx="731520" cy="731520"/>
            <a:chOff x="0" y="0"/>
            <a:chExt cx="97536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011680" y="6455664"/>
            <a:ext cx="8778240" cy="914400"/>
            <a:chOff x="0" y="0"/>
            <a:chExt cx="1170432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17043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B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Parameter C balances a wide margin vs. misclassifications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338560" y="3108960"/>
            <a:ext cx="6035040" cy="4389120"/>
            <a:chOff x="0" y="0"/>
            <a:chExt cx="8046720" cy="5852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0467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80467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802880" y="0"/>
                  </a:lnTo>
                  <a:cubicBezTo>
                    <a:pt x="7937500" y="0"/>
                    <a:pt x="8046720" y="109220"/>
                    <a:pt x="8046720" y="243840"/>
                  </a:cubicBezTo>
                  <a:lnTo>
                    <a:pt x="8046720" y="5608320"/>
                  </a:lnTo>
                  <a:cubicBezTo>
                    <a:pt x="8046720" y="5742940"/>
                    <a:pt x="7937500" y="5852160"/>
                    <a:pt x="7802880" y="5852160"/>
                  </a:cubicBezTo>
                  <a:lnTo>
                    <a:pt x="243840" y="5852160"/>
                  </a:lnTo>
                  <a:cubicBezTo>
                    <a:pt x="109220" y="5852160"/>
                    <a:pt x="0" y="5742940"/>
                    <a:pt x="0" y="5608320"/>
                  </a:cubicBezTo>
                  <a:close/>
                </a:path>
              </a:pathLst>
            </a:custGeom>
            <a:solidFill>
              <a:srgbClr val="0B2A5B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1795760" y="3400044"/>
            <a:ext cx="51206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8DB8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FORMULA / IDEA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795760" y="3931920"/>
            <a:ext cx="5120640" cy="1554480"/>
            <a:chOff x="0" y="0"/>
            <a:chExt cx="6827520" cy="2072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6" r="0" b="-1418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85725"/>
              <a:ext cx="6827520" cy="2158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maximise margin = 2 / ‖w‖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795760" y="5722620"/>
            <a:ext cx="51206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8DB8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USED FOR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795760" y="6160770"/>
            <a:ext cx="5120640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Text classification, face and image recognition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645920" y="8231505"/>
            <a:ext cx="13891805" cy="1423035"/>
            <a:chOff x="0" y="0"/>
            <a:chExt cx="18522407" cy="18973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522406" cy="1897380"/>
            </a:xfrm>
            <a:custGeom>
              <a:avLst/>
              <a:gdLst/>
              <a:ahLst/>
              <a:cxnLst/>
              <a:rect r="r" b="b" t="t" l="l"/>
              <a:pathLst>
                <a:path h="1897380" w="18522406">
                  <a:moveTo>
                    <a:pt x="0" y="316261"/>
                  </a:moveTo>
                  <a:cubicBezTo>
                    <a:pt x="0" y="141565"/>
                    <a:pt x="122093" y="0"/>
                    <a:pt x="272758" y="0"/>
                  </a:cubicBezTo>
                  <a:lnTo>
                    <a:pt x="18249649" y="0"/>
                  </a:lnTo>
                  <a:cubicBezTo>
                    <a:pt x="18400314" y="0"/>
                    <a:pt x="18522406" y="141565"/>
                    <a:pt x="18522406" y="316261"/>
                  </a:cubicBezTo>
                  <a:lnTo>
                    <a:pt x="18522406" y="1581119"/>
                  </a:lnTo>
                  <a:cubicBezTo>
                    <a:pt x="18522406" y="1755815"/>
                    <a:pt x="18400314" y="1897380"/>
                    <a:pt x="18249649" y="1897380"/>
                  </a:cubicBezTo>
                  <a:lnTo>
                    <a:pt x="272758" y="1897380"/>
                  </a:lnTo>
                  <a:cubicBezTo>
                    <a:pt x="122093" y="1897380"/>
                    <a:pt x="0" y="1755815"/>
                    <a:pt x="0" y="1581119"/>
                  </a:cubicBezTo>
                  <a:close/>
                </a:path>
              </a:pathLst>
            </a:custGeom>
            <a:solidFill>
              <a:srgbClr val="0B2A5B"/>
            </a:solidFill>
            <a:ln w="38100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8522407" cy="1897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DB8F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E-COMMERCE </a:t>
              </a:r>
              <a:r>
                <a:rPr lang="en-US" sz="2400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Classification • Return_Status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Accuracy: 86.42%  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Regression • Net_Sales: RMSE 6,142.49  |  R² 0.120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39115"/>
            <a:ext cx="164592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0B2A5B"/>
                </a:solidFill>
                <a:latin typeface="Cambria Bold"/>
                <a:ea typeface="Cambria Bold"/>
                <a:cs typeface="Cambria Bold"/>
                <a:sym typeface="Cambria Bold"/>
              </a:rPr>
              <a:t>Evaluation Metrics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762125"/>
            <a:ext cx="16459200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3A5A8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Metrics show how well a model generalises to unseen test data (use a train/test split or cross-validation).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291840"/>
            <a:ext cx="7955280" cy="6035040"/>
            <a:chOff x="0" y="0"/>
            <a:chExt cx="10607040" cy="8046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07040" cy="8046720"/>
            </a:xfrm>
            <a:custGeom>
              <a:avLst/>
              <a:gdLst/>
              <a:ahLst/>
              <a:cxnLst/>
              <a:rect r="r" b="b" t="t" l="l"/>
              <a:pathLst>
                <a:path h="8046720" w="1060704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411968" y="0"/>
                  </a:lnTo>
                  <a:cubicBezTo>
                    <a:pt x="10519664" y="0"/>
                    <a:pt x="10607040" y="87376"/>
                    <a:pt x="10607040" y="195072"/>
                  </a:cubicBezTo>
                  <a:lnTo>
                    <a:pt x="10607040" y="7851648"/>
                  </a:lnTo>
                  <a:cubicBezTo>
                    <a:pt x="10607040" y="7959344"/>
                    <a:pt x="10519664" y="8046720"/>
                    <a:pt x="10411968" y="8046720"/>
                  </a:cubicBezTo>
                  <a:lnTo>
                    <a:pt x="195072" y="8046720"/>
                  </a:lnTo>
                  <a:cubicBezTo>
                    <a:pt x="87376" y="8046720"/>
                    <a:pt x="0" y="7959344"/>
                    <a:pt x="0" y="78516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80160" y="3509010"/>
            <a:ext cx="722376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F6FD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Regression metrics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0160" y="4240530"/>
            <a:ext cx="7223760" cy="490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MAE: average absolute error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MSE: average squared error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RMSE: √MSE, same unit as target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R²: share of variance explained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18320" y="3291840"/>
            <a:ext cx="7955280" cy="6035040"/>
            <a:chOff x="0" y="0"/>
            <a:chExt cx="10607040" cy="8046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07040" cy="8046720"/>
            </a:xfrm>
            <a:custGeom>
              <a:avLst/>
              <a:gdLst/>
              <a:ahLst/>
              <a:cxnLst/>
              <a:rect r="r" b="b" t="t" l="l"/>
              <a:pathLst>
                <a:path h="8046720" w="1060704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411968" y="0"/>
                  </a:lnTo>
                  <a:cubicBezTo>
                    <a:pt x="10519664" y="0"/>
                    <a:pt x="10607040" y="87376"/>
                    <a:pt x="10607040" y="195072"/>
                  </a:cubicBezTo>
                  <a:lnTo>
                    <a:pt x="10607040" y="7851648"/>
                  </a:lnTo>
                  <a:cubicBezTo>
                    <a:pt x="10607040" y="7959344"/>
                    <a:pt x="10519664" y="8046720"/>
                    <a:pt x="10411968" y="8046720"/>
                  </a:cubicBezTo>
                  <a:lnTo>
                    <a:pt x="195072" y="8046720"/>
                  </a:lnTo>
                  <a:cubicBezTo>
                    <a:pt x="87376" y="8046720"/>
                    <a:pt x="0" y="7959344"/>
                    <a:pt x="0" y="78516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784080" y="3509010"/>
            <a:ext cx="722376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F6FD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Classification metrics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84080" y="4240530"/>
            <a:ext cx="7223760" cy="490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Accuracy: overall correct predictions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Precision: correctness of positives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Recall: coverage of actual positives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F1-score: balance of both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ROC-AUC: class separation ability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39115"/>
            <a:ext cx="164592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0B2A5B"/>
                </a:solidFill>
                <a:latin typeface="Cambria Bold"/>
                <a:ea typeface="Cambria Bold"/>
                <a:cs typeface="Cambria Bold"/>
                <a:sym typeface="Cambria Bold"/>
              </a:rPr>
              <a:t>Confusion Matrix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474720" y="2743200"/>
            <a:ext cx="3108960" cy="914400"/>
            <a:chOff x="0" y="0"/>
            <a:chExt cx="4145280" cy="1219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45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452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A5A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Predicted Positive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66560" y="2743200"/>
            <a:ext cx="3108960" cy="914400"/>
            <a:chOff x="0" y="0"/>
            <a:chExt cx="4145280" cy="121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45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1452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A5A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Predicted Negative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3840480"/>
            <a:ext cx="2377440" cy="2377440"/>
            <a:chOff x="0" y="0"/>
            <a:chExt cx="3169920" cy="3169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699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16992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A5A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Actual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A5A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Positive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474720" y="3840480"/>
            <a:ext cx="3108960" cy="2377440"/>
            <a:chOff x="0" y="0"/>
            <a:chExt cx="4145280" cy="3169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950208" y="0"/>
                  </a:lnTo>
                  <a:cubicBezTo>
                    <a:pt x="4057904" y="0"/>
                    <a:pt x="4145280" y="87376"/>
                    <a:pt x="4145280" y="195072"/>
                  </a:cubicBezTo>
                  <a:lnTo>
                    <a:pt x="4145280" y="2974848"/>
                  </a:lnTo>
                  <a:cubicBezTo>
                    <a:pt x="4145280" y="3082544"/>
                    <a:pt x="4057904" y="3169920"/>
                    <a:pt x="3950208" y="3169920"/>
                  </a:cubicBezTo>
                  <a:lnTo>
                    <a:pt x="195072" y="3169920"/>
                  </a:lnTo>
                  <a:cubicBezTo>
                    <a:pt x="87376" y="3169920"/>
                    <a:pt x="0" y="3082544"/>
                    <a:pt x="0" y="2974848"/>
                  </a:cubicBezTo>
                  <a:close/>
                </a:path>
              </a:pathLst>
            </a:custGeom>
            <a:solidFill>
              <a:srgbClr val="0B2A5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474720" y="4082415"/>
            <a:ext cx="310896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74720" y="5255895"/>
            <a:ext cx="310896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True positive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766560" y="3840480"/>
            <a:ext cx="3108960" cy="2377440"/>
            <a:chOff x="0" y="0"/>
            <a:chExt cx="4145280" cy="3169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950208" y="0"/>
                  </a:lnTo>
                  <a:cubicBezTo>
                    <a:pt x="4057904" y="0"/>
                    <a:pt x="4145280" y="87376"/>
                    <a:pt x="4145280" y="195072"/>
                  </a:cubicBezTo>
                  <a:lnTo>
                    <a:pt x="4145280" y="2974848"/>
                  </a:lnTo>
                  <a:cubicBezTo>
                    <a:pt x="4145280" y="3082544"/>
                    <a:pt x="4057904" y="3169920"/>
                    <a:pt x="3950208" y="3169920"/>
                  </a:cubicBezTo>
                  <a:lnTo>
                    <a:pt x="195072" y="3169920"/>
                  </a:lnTo>
                  <a:cubicBezTo>
                    <a:pt x="87376" y="3169920"/>
                    <a:pt x="0" y="3082544"/>
                    <a:pt x="0" y="2974848"/>
                  </a:cubicBezTo>
                  <a:close/>
                </a:path>
              </a:pathLst>
            </a:custGeom>
            <a:solidFill>
              <a:srgbClr val="DCE9FB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766560" y="4082415"/>
            <a:ext cx="310896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0B2A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66560" y="5255895"/>
            <a:ext cx="310896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0B2A5B"/>
                </a:solidFill>
                <a:latin typeface="Calibri (MS)"/>
                <a:ea typeface="Calibri (MS)"/>
                <a:cs typeface="Calibri (MS)"/>
                <a:sym typeface="Calibri (MS)"/>
              </a:rPr>
              <a:t>False Negative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4400" y="6400800"/>
            <a:ext cx="2377440" cy="2377440"/>
            <a:chOff x="0" y="0"/>
            <a:chExt cx="3169920" cy="3169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699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16992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A5A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Actual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A5A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Negative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474720" y="6400800"/>
            <a:ext cx="3108960" cy="2377440"/>
            <a:chOff x="0" y="0"/>
            <a:chExt cx="4145280" cy="3169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950208" y="0"/>
                  </a:lnTo>
                  <a:cubicBezTo>
                    <a:pt x="4057904" y="0"/>
                    <a:pt x="4145280" y="87376"/>
                    <a:pt x="4145280" y="195072"/>
                  </a:cubicBezTo>
                  <a:lnTo>
                    <a:pt x="4145280" y="2974848"/>
                  </a:lnTo>
                  <a:cubicBezTo>
                    <a:pt x="4145280" y="3082544"/>
                    <a:pt x="4057904" y="3169920"/>
                    <a:pt x="3950208" y="3169920"/>
                  </a:cubicBezTo>
                  <a:lnTo>
                    <a:pt x="195072" y="3169920"/>
                  </a:lnTo>
                  <a:cubicBezTo>
                    <a:pt x="87376" y="3169920"/>
                    <a:pt x="0" y="3082544"/>
                    <a:pt x="0" y="2974848"/>
                  </a:cubicBezTo>
                  <a:close/>
                </a:path>
              </a:pathLst>
            </a:custGeom>
            <a:solidFill>
              <a:srgbClr val="DCE9FB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3474720" y="6642735"/>
            <a:ext cx="310896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0B2A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474720" y="7816215"/>
            <a:ext cx="310896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0B2A5B"/>
                </a:solidFill>
                <a:latin typeface="Calibri (MS)"/>
                <a:ea typeface="Calibri (MS)"/>
                <a:cs typeface="Calibri (MS)"/>
                <a:sym typeface="Calibri (MS)"/>
              </a:rPr>
              <a:t>False Positive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766560" y="6400800"/>
            <a:ext cx="3108960" cy="2377440"/>
            <a:chOff x="0" y="0"/>
            <a:chExt cx="4145280" cy="31699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950208" y="0"/>
                  </a:lnTo>
                  <a:cubicBezTo>
                    <a:pt x="4057904" y="0"/>
                    <a:pt x="4145280" y="87376"/>
                    <a:pt x="4145280" y="195072"/>
                  </a:cubicBezTo>
                  <a:lnTo>
                    <a:pt x="4145280" y="2974848"/>
                  </a:lnTo>
                  <a:cubicBezTo>
                    <a:pt x="4145280" y="3082544"/>
                    <a:pt x="4057904" y="3169920"/>
                    <a:pt x="3950208" y="3169920"/>
                  </a:cubicBezTo>
                  <a:lnTo>
                    <a:pt x="195072" y="3169920"/>
                  </a:lnTo>
                  <a:cubicBezTo>
                    <a:pt x="87376" y="3169920"/>
                    <a:pt x="0" y="3082544"/>
                    <a:pt x="0" y="2974848"/>
                  </a:cubicBezTo>
                  <a:close/>
                </a:path>
              </a:pathLst>
            </a:custGeom>
            <a:solidFill>
              <a:srgbClr val="0B2A5B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766560" y="6642735"/>
            <a:ext cx="310896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66560" y="7816215"/>
            <a:ext cx="310896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True negative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89920" y="3773805"/>
            <a:ext cx="6583680" cy="341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A table of actual vs. predicted classes for a classifier.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TP / TN: the model was right. FP / FN: the model was wrong.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FP = false alarm (Type I error); FN = miss (Type II error).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Accuracy, precision, recall and F1 all come from these four counts.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39115"/>
            <a:ext cx="164592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0B2A5B"/>
                </a:solidFill>
                <a:latin typeface="Cambria Bold"/>
                <a:ea typeface="Cambria Bold"/>
                <a:cs typeface="Cambria Bold"/>
                <a:sym typeface="Cambria Bold"/>
              </a:rPr>
              <a:t>Accuracy, Precision, Recall &amp; F1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03120"/>
            <a:ext cx="7955280" cy="2834640"/>
            <a:chOff x="0" y="0"/>
            <a:chExt cx="10607040" cy="37795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0704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60704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411968" y="0"/>
                  </a:lnTo>
                  <a:cubicBezTo>
                    <a:pt x="10519664" y="0"/>
                    <a:pt x="10607040" y="87376"/>
                    <a:pt x="10607040" y="195072"/>
                  </a:cubicBezTo>
                  <a:lnTo>
                    <a:pt x="10607040" y="3584448"/>
                  </a:lnTo>
                  <a:cubicBezTo>
                    <a:pt x="10607040" y="3692144"/>
                    <a:pt x="10519664" y="3779520"/>
                    <a:pt x="10411968" y="3779520"/>
                  </a:cubicBezTo>
                  <a:lnTo>
                    <a:pt x="195072" y="3779520"/>
                  </a:lnTo>
                  <a:cubicBezTo>
                    <a:pt x="87376" y="3779520"/>
                    <a:pt x="0" y="3692144"/>
                    <a:pt x="0" y="35844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280160" y="2265426"/>
            <a:ext cx="722376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F6FD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Accuracy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0160" y="2923794"/>
            <a:ext cx="722376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B2A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(TP + TN) / (TP + TN + FP + FN)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0160" y="3674364"/>
            <a:ext cx="722376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Share of all predictions that are correct. Misleading on imbalanced data.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18320" y="2103120"/>
            <a:ext cx="7955280" cy="2834640"/>
            <a:chOff x="0" y="0"/>
            <a:chExt cx="10607040" cy="3779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0704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60704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411968" y="0"/>
                  </a:lnTo>
                  <a:cubicBezTo>
                    <a:pt x="10519664" y="0"/>
                    <a:pt x="10607040" y="87376"/>
                    <a:pt x="10607040" y="195072"/>
                  </a:cubicBezTo>
                  <a:lnTo>
                    <a:pt x="10607040" y="3584448"/>
                  </a:lnTo>
                  <a:cubicBezTo>
                    <a:pt x="10607040" y="3692144"/>
                    <a:pt x="10519664" y="3779520"/>
                    <a:pt x="10411968" y="3779520"/>
                  </a:cubicBezTo>
                  <a:lnTo>
                    <a:pt x="195072" y="3779520"/>
                  </a:lnTo>
                  <a:cubicBezTo>
                    <a:pt x="87376" y="3779520"/>
                    <a:pt x="0" y="3692144"/>
                    <a:pt x="0" y="35844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784080" y="2265426"/>
            <a:ext cx="722376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F6FD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Precision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84080" y="2923794"/>
            <a:ext cx="722376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B2A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TP / (TP + FP)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84080" y="3674364"/>
            <a:ext cx="722376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Of everything predicted positive, how many really are positive?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" y="5212080"/>
            <a:ext cx="7955280" cy="2834640"/>
            <a:chOff x="0" y="0"/>
            <a:chExt cx="10607040" cy="3779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0704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60704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411968" y="0"/>
                  </a:lnTo>
                  <a:cubicBezTo>
                    <a:pt x="10519664" y="0"/>
                    <a:pt x="10607040" y="87376"/>
                    <a:pt x="10607040" y="195072"/>
                  </a:cubicBezTo>
                  <a:lnTo>
                    <a:pt x="10607040" y="3584448"/>
                  </a:lnTo>
                  <a:cubicBezTo>
                    <a:pt x="10607040" y="3692144"/>
                    <a:pt x="10519664" y="3779520"/>
                    <a:pt x="10411968" y="3779520"/>
                  </a:cubicBezTo>
                  <a:lnTo>
                    <a:pt x="195072" y="3779520"/>
                  </a:lnTo>
                  <a:cubicBezTo>
                    <a:pt x="87376" y="3779520"/>
                    <a:pt x="0" y="3692144"/>
                    <a:pt x="0" y="35844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80160" y="5374386"/>
            <a:ext cx="722376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F6FD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Recall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0160" y="6032754"/>
            <a:ext cx="722376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B2A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TP / (TP + FN)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0160" y="6783324"/>
            <a:ext cx="722376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Of all actual positives, how many did the model find?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18320" y="5212080"/>
            <a:ext cx="7955280" cy="2834640"/>
            <a:chOff x="0" y="0"/>
            <a:chExt cx="10607040" cy="3779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0704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60704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411968" y="0"/>
                  </a:lnTo>
                  <a:cubicBezTo>
                    <a:pt x="10519664" y="0"/>
                    <a:pt x="10607040" y="87376"/>
                    <a:pt x="10607040" y="195072"/>
                  </a:cubicBezTo>
                  <a:lnTo>
                    <a:pt x="10607040" y="3584448"/>
                  </a:lnTo>
                  <a:cubicBezTo>
                    <a:pt x="10607040" y="3692144"/>
                    <a:pt x="10519664" y="3779520"/>
                    <a:pt x="10411968" y="3779520"/>
                  </a:cubicBezTo>
                  <a:lnTo>
                    <a:pt x="195072" y="3779520"/>
                  </a:lnTo>
                  <a:cubicBezTo>
                    <a:pt x="87376" y="3779520"/>
                    <a:pt x="0" y="3692144"/>
                    <a:pt x="0" y="35844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784080" y="5374386"/>
            <a:ext cx="722376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F6FD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F1-score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84080" y="6032754"/>
            <a:ext cx="722376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B2A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 × (P × R) / (P + R)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84080" y="6783324"/>
            <a:ext cx="722376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B4A"/>
                </a:solidFill>
                <a:latin typeface="Calibri (MS)"/>
                <a:ea typeface="Calibri (MS)"/>
                <a:cs typeface="Calibri (MS)"/>
                <a:sym typeface="Calibri (MS)"/>
              </a:rPr>
              <a:t>Harmonic mean of precision and recall; balances both.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8345805"/>
            <a:ext cx="16459200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i="true">
                <a:solidFill>
                  <a:srgbClr val="3A5A8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Spam filter → favour Precision (don't block real mail). Cancer screening → favour Recall (never miss a case).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219456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1F6FD6">
                <a:alpha val="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79040" y="4754880"/>
            <a:ext cx="5852160" cy="5852160"/>
            <a:chOff x="0" y="0"/>
            <a:chExt cx="7802880" cy="7802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02880" cy="7802880"/>
            </a:xfrm>
            <a:custGeom>
              <a:avLst/>
              <a:gdLst/>
              <a:ahLst/>
              <a:cxnLst/>
              <a:rect r="r" b="b" t="t" l="l"/>
              <a:pathLst>
                <a:path h="7802880" w="7802880">
                  <a:moveTo>
                    <a:pt x="0" y="3901440"/>
                  </a:moveTo>
                  <a:cubicBezTo>
                    <a:pt x="0" y="1746758"/>
                    <a:pt x="1746758" y="0"/>
                    <a:pt x="3901440" y="0"/>
                  </a:cubicBezTo>
                  <a:cubicBezTo>
                    <a:pt x="6056123" y="0"/>
                    <a:pt x="7802880" y="1746758"/>
                    <a:pt x="7802880" y="3901440"/>
                  </a:cubicBezTo>
                  <a:cubicBezTo>
                    <a:pt x="7802880" y="6056123"/>
                    <a:pt x="6056122" y="7802880"/>
                    <a:pt x="3901440" y="7802880"/>
                  </a:cubicBezTo>
                  <a:cubicBezTo>
                    <a:pt x="1746758" y="7802880"/>
                    <a:pt x="0" y="6056122"/>
                    <a:pt x="0" y="3901440"/>
                  </a:cubicBezTo>
                  <a:close/>
                </a:path>
              </a:pathLst>
            </a:custGeom>
            <a:solidFill>
              <a:srgbClr val="1F6FD6">
                <a:alpha val="78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704320" y="6583680"/>
            <a:ext cx="4023360" cy="4023360"/>
            <a:chOff x="0" y="0"/>
            <a:chExt cx="5364480" cy="53644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568"/>
                    <a:pt x="0" y="2682240"/>
                  </a:cubicBezTo>
                  <a:close/>
                </a:path>
              </a:pathLst>
            </a:custGeom>
            <a:solidFill>
              <a:srgbClr val="1F6FD6">
                <a:alpha val="392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80160" y="2724150"/>
            <a:ext cx="12801600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0160" y="5189220"/>
            <a:ext cx="12801600" cy="139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>
                <a:solidFill>
                  <a:srgbClr val="8DB8F5"/>
                </a:solidFill>
                <a:latin typeface="Calibri (MS)"/>
                <a:ea typeface="Calibri (MS)"/>
                <a:cs typeface="Calibri (MS)"/>
                <a:sym typeface="Calibri (MS)"/>
              </a:rPr>
              <a:t>Any Questions?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0160" y="7797165"/>
            <a:ext cx="1280160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Supervised Learning Algorithms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DAHWNnzjdaE</dc:identifier>
  <dcterms:modified xsi:type="dcterms:W3CDTF">2011-08-01T06:04:30Z</dcterms:modified>
  <cp:revision>1</cp:revision>
  <dc:title>Supervised Algorithms_Annapurna</dc:title>
</cp:coreProperties>
</file>